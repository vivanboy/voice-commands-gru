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5E7E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Accuracy</c:v>
                  </c:pt>
                  <c:pt idx="1">
                    <c:v>Erreur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91.4</c:v>
                </c:pt>
                <c:pt idx="1">
                  <c:v>8.6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5E7EB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Captures d’écran produites pendant le projet (Gradio/Turtle) et image d’inspiration fournie par l’utilisateur.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Présentation basée sur l’implémentation du notebook du projet (splits officiels + classes unknown/silence).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Score et captures issus des exécutions du projet (accuracy test rapportée par l’utilisateur).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Capture Gradio produite pendant le projet (image fournie par l’utilisateur).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Capture Turtle produite pendant le projet (image fournie par l’utilisateur).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417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de commandes vocales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13232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Spotting — MFCC + GRU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13232" y="2880360"/>
            <a:ext cx="3685032" cy="310896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935224"/>
            <a:ext cx="34107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profond appliqué avancé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26864" y="2880360"/>
            <a:ext cx="1627632" cy="310896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64024" y="2935224"/>
            <a:ext cx="1353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final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3703320"/>
            <a:ext cx="5440680" cy="2697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38221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Démos</a:t>
            </a:r>
            <a:endParaRPr lang="en-US" sz="1600" dirty="0"/>
          </a:p>
        </p:txBody>
      </p:sp>
      <p:pic>
        <p:nvPicPr>
          <p:cNvPr id="11" name="Image 0" descr="/mnt/data/304aed1e-5055-45a2-8f5f-4bd0a641dd44.png">    </p:cNvPr>
          <p:cNvPicPr>
            <a:picLocks noChangeAspect="1"/>
          </p:cNvPicPr>
          <p:nvPr/>
        </p:nvPicPr>
        <p:blipFill>
          <a:blip r:embed="rId1"/>
          <a:srcRect l="26031" r="26031" t="0" b="0"/>
          <a:stretch/>
        </p:blipFill>
        <p:spPr>
          <a:xfrm>
            <a:off x="960120" y="4160520"/>
            <a:ext cx="2514600" cy="2057400"/>
          </a:xfrm>
          <a:prstGeom prst="rect">
            <a:avLst/>
          </a:prstGeom>
        </p:spPr>
      </p:pic>
      <p:pic>
        <p:nvPicPr>
          <p:cNvPr id="12" name="Image 1" descr="/mnt/data/5b13cd0b-ab71-4d86-ae39-670a84721633.png">    </p:cNvPr>
          <p:cNvPicPr>
            <a:picLocks noChangeAspect="1"/>
          </p:cNvPicPr>
          <p:nvPr/>
        </p:nvPicPr>
        <p:blipFill>
          <a:blip r:embed="rId2"/>
          <a:srcRect l="0" r="0" t="6957" b="6956"/>
          <a:stretch/>
        </p:blipFill>
        <p:spPr>
          <a:xfrm>
            <a:off x="3566160" y="4160520"/>
            <a:ext cx="2514600" cy="20574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400800" y="3703320"/>
            <a:ext cx="5120640" cy="2697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675120" y="38221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clé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675120" y="4224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675120" y="45262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91.4%</a:t>
            </a:r>
            <a:endParaRPr lang="en-US" sz="5600" dirty="0"/>
          </a:p>
        </p:txBody>
      </p:sp>
      <p:sp>
        <p:nvSpPr>
          <p:cNvPr id="17" name="Text 13"/>
          <p:cNvSpPr/>
          <p:nvPr/>
        </p:nvSpPr>
        <p:spPr>
          <a:xfrm>
            <a:off x="6675120" y="5532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GRU entraîné sur MFCC (Speech Commands).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8640" y="6656832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&amp; objectifs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une commande vocale courte, rapidement et hors‑ligne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715000" cy="5349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25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73736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des mots courts ("commands") dans un flux audio,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une latence faible et une robustesse au bruit.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971800"/>
            <a:ext cx="5394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Construire un pipeline complet (prétraitement → entraînement → évaluation).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Reconnaître 10 commandes + classes unknown &amp; silence.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Fournir des démos (Gradio + Turtle) utilisables en local.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Versionner le projet (GitHub) avec des artefacts légers.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29400" y="1143000"/>
            <a:ext cx="4892040" cy="5349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49440" y="13258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d’usage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49440" y="178308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Domotique : on/off, stop/go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Contrôle mains‑libres (accessibilité)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IoT / embarqué : wake word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Déclencheur offline (confidentialité)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49440" y="37947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 démo</a:t>
            </a:r>
            <a:endParaRPr lang="en-US" sz="1200" dirty="0"/>
          </a:p>
        </p:txBody>
      </p:sp>
      <p:pic>
        <p:nvPicPr>
          <p:cNvPr id="14" name="Image 0" descr="/mnt/data/50c4b136-b3cc-4245-be5a-37508ac79c0b.png">    </p:cNvPr>
          <p:cNvPicPr>
            <a:picLocks noChangeAspect="1"/>
          </p:cNvPicPr>
          <p:nvPr/>
        </p:nvPicPr>
        <p:blipFill>
          <a:blip r:embed="rId1"/>
          <a:srcRect l="0" r="0" t="6419" b="6419"/>
          <a:stretch/>
        </p:blipFill>
        <p:spPr>
          <a:xfrm>
            <a:off x="6949440" y="4069080"/>
            <a:ext cx="4343400" cy="233172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6656832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KWS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Speech Commands Dataset (v0.02) — splits officiels val/test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715000" cy="5349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25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des classes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73736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Cibles (10) : yes, no, up, down, left, right, on, off, stop, go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unknown : autres mots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silence : segments extraits de _background_noise_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9718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Découpage train/val/test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33756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validation_list.txt et testing_list.txt (splits officiels)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 = reste des fichiers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équilibrage par classe (mêmes effectifs)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29400" y="1143000"/>
            <a:ext cx="4892040" cy="5349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49440" y="13258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des échantillons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49440" y="1783080"/>
            <a:ext cx="4480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Audio mono, 16 kHz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Fenêtre 1 seconde (pad/trim)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Silence : extraction 1s aléatoire depuis bruit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Unknown : tirage depuis mots non ciblés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49440" y="4069080"/>
            <a:ext cx="4343400" cy="22402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42245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classes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23760" y="4553712"/>
            <a:ext cx="1627632" cy="310896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4608576"/>
            <a:ext cx="1353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commandes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34272" y="4553712"/>
            <a:ext cx="1216152" cy="310896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71432" y="4608576"/>
            <a:ext cx="941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23760" y="4882896"/>
            <a:ext cx="1216152" cy="310896"/>
          </a:xfrm>
          <a:prstGeom prst="round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4937760"/>
            <a:ext cx="941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23760" y="52852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Équilibrage par split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656832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&amp; splits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(40) sur 1 seconde → séquence (97 × 40)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10972800" cy="5349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2588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features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05840" y="1965960"/>
            <a:ext cx="2423160" cy="109728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130552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 @16kHz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0" y="2514600"/>
            <a:ext cx="22860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749040" y="1965960"/>
            <a:ext cx="2423160" cy="109728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2130552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coeff.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2514600"/>
            <a:ext cx="22860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92240" y="1965960"/>
            <a:ext cx="2423160" cy="1097280"/>
          </a:xfrm>
          <a:prstGeom prst="round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130552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(mu, sigma)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61120" y="2514600"/>
            <a:ext cx="22860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235440" y="1965960"/>
            <a:ext cx="2423160" cy="109728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72600" y="2130552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05840" y="3337560"/>
            <a:ext cx="10332720" cy="292608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34747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clés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3840480"/>
            <a:ext cx="5120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SR = 16 000 Hz, durée = 1 seconde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n_mfcc = 40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win = 25 ms, hop = 10 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 ≈ 97 frames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Standardisation à partir du train (mu/sigma)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2940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feature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29400" y="3886200"/>
            <a:ext cx="4480560" cy="214884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42062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(T × F)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× 40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629400" y="5212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du GRU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656832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→ GRU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&amp; entraînement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pour séquences MFCC + régularisation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715000" cy="5349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25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73736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: (97, 40)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GRU(128)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Dropout(0.3)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Dense(128, ReLU)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Dropout(0.3)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Dense(12, Softmax)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43434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470916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Adam (lr=1e‑3)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SparseCategoricalCrossentropy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Batch training + validation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29400" y="1143000"/>
            <a:ext cx="4892040" cy="5349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49440" y="13258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Stabilité &amp; généralisation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49440" y="1783080"/>
            <a:ext cx="4480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EarlyStopping (patience=4)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ReduceLROnPlateau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ModelCheckpoint (best val acc)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Équilibrage des classes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Classes "unknown" &amp; "silence"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49440" y="4160520"/>
            <a:ext cx="4343400" cy="23317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43159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23760" y="4645152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Normalisation (mu/sigma) sauvegardée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Démo robuste : meilleure seconde + vote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Artefacts légers versionnés (stats)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656832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+ callbacks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sur jeu de test + qualité des démos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10972800" cy="5349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0.914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early stopping + régularisation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1005840" y="2834640"/>
          <a:ext cx="52120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6629400" y="13258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629400" y="1737360"/>
            <a:ext cx="4800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Très bon sur les commandes cibles.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"unknown" plus difficile (classe hétérogène).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 démo micro : robustesse améliorée par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meilleure seconde + vote + cooldown.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29400" y="32918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(capture Gradio)</a:t>
            </a:r>
            <a:endParaRPr lang="en-US" sz="1200" dirty="0"/>
          </a:p>
        </p:txBody>
      </p:sp>
      <p:pic>
        <p:nvPicPr>
          <p:cNvPr id="13" name="Image 0" descr="/mnt/data/304aed1e-5055-45a2-8f5f-4bd0a641dd4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4087756"/>
            <a:ext cx="4800600" cy="188288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8640" y="6656832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#1 — Gradio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/ upload → prétraitement → prédiction Top‑k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6583680" cy="5349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2588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locale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73736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Entrée : Microphone ou fichier audio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Robustesse : sélection de la meilleure seconde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Sortie : Top‑5 classes + probabilités</a:t>
            </a:r>
            <a:endParaRPr lang="en-US" sz="1400" dirty="0"/>
          </a:p>
        </p:txBody>
      </p:sp>
      <p:pic>
        <p:nvPicPr>
          <p:cNvPr id="8" name="Image 0" descr="/mnt/data/304aed1e-5055-45a2-8f5f-4bd0a641dd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402364"/>
            <a:ext cx="6080760" cy="238499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52360" y="1143000"/>
            <a:ext cx="4206240" cy="5349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772400" y="173736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Démo “plug‑and‑play”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 besoin de ré‑entraîner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S’appuie sur 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models/gru_speech_commands.keras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data/processed/stats_mfcc40_T97.npz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: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0" y="3840480"/>
            <a:ext cx="3657600" cy="6400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09560" y="3977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app_gradio.py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6656832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Gradio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#2 — Turtle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d’un curseur par la voix (realtime + vote)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6583680" cy="5349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2588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visuel “wow”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737360"/>
            <a:ext cx="6126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up/down/left/right : orientation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 : avancer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on/off : dessiner ou non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yes : clear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stop : quitter</a:t>
            </a:r>
            <a:endParaRPr lang="en-US" sz="1400" dirty="0"/>
          </a:p>
        </p:txBody>
      </p:sp>
      <p:pic>
        <p:nvPicPr>
          <p:cNvPr id="8" name="Image 0" descr="/mnt/data/5b13cd0b-ab71-4d86-ae39-670a847216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8479" y="3108960"/>
            <a:ext cx="3415483" cy="3246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52360" y="1143000"/>
            <a:ext cx="4206240" cy="5349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 temps réel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772400" y="17373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Fenêtre glissante 1s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RMS gating (anti‑bruit)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Vote majoritaire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Cooldown (anti‑spam)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UI non bloquante (thread/queue)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: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0" y="3931920"/>
            <a:ext cx="3657600" cy="6400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09560" y="400507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demo_turtle_voice.py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6656832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Turtle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Reproductibilité &amp; GitHub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léger + scripts de démo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10972800" cy="5349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258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Artefacts versionnés (léger)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73736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Modèle : models/gru_speech_commands.keras (~1 MB)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Stats : data/processed/stats_mfcc40_T97.npz (mu/sigma/labels)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 : app_gradio.py, demo_turtle_voice.py, notebook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30632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ignorer (très gros)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429000"/>
            <a:ext cx="6035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data/raw/ (dataset)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data/processed/speech_mfcc40_T97.npz (~619 MB)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.venv/ (environnement)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.gradio/ (logs)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223760" y="1737360"/>
            <a:ext cx="4069080" cy="44805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rapides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0" y="22860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app_gradio.py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demo_turtle_voice.py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9808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github.com/VivanBoy/voice-commands-gru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98080" y="4663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Le notebook peut être allégé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(enlever outputs) avant commit.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656832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&amp; exécution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Limites, pistes d’amélioration, et prochaines étapes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715000" cy="5349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25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73736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Sensibilité au bruit micro (mitigée par gating/vote).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Unknown : classe hétérogène → confusions.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Langue/accents : dépend du dataset.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31089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marche bien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52044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 clair et reproductible.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Démo web + démo temps réel convaincantes.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Modèle léger et utilisable offline.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29400" y="1143000"/>
            <a:ext cx="4892040" cy="5349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49440" y="13258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49440" y="173736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augmentation (bruit, time‑shift).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Log‑mel + CNN/CRNN pour + de précision.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 TensorFlow Lite (mobile/edge).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Calibration de seuils + VAD plus fine.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49440" y="3657600"/>
            <a:ext cx="4343400" cy="26974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38862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!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223760" y="4526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/ Démo live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23760" y="49834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Gradio : python app_gradio.py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Turtle : python demo_turtle_voice.py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656832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Voice Commands Project</dc:creator>
  <cp:lastModifiedBy>Voice Commands Project</cp:lastModifiedBy>
  <cp:revision>1</cp:revision>
  <dcterms:created xsi:type="dcterms:W3CDTF">2026-02-19T11:56:08Z</dcterms:created>
  <dcterms:modified xsi:type="dcterms:W3CDTF">2026-02-19T11:56:08Z</dcterms:modified>
</cp:coreProperties>
</file>